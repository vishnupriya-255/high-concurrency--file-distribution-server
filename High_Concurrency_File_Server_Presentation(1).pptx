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1" r:id="rId5"/>
    <p:sldId id="266" r:id="rId6"/>
    <p:sldId id="258" r:id="rId7"/>
    <p:sldId id="262" r:id="rId8"/>
    <p:sldId id="263" r:id="rId9"/>
    <p:sldId id="260" r:id="rId10"/>
    <p:sldId id="265" r:id="rId11"/>
  </p:sldIdLst>
  <p:sldSz cx="18288000" cy="10287000"/>
  <p:notesSz cx="6858000" cy="9144000"/>
  <p:embeddedFontLst>
    <p:embeddedFont>
      <p:font typeface="Abril Fatface" panose="02000503000000020003" pitchFamily="2" charset="0"/>
      <p:regular r:id="rId12"/>
    </p:embeddedFont>
    <p:embeddedFont>
      <p:font typeface="Merriweather" panose="000005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hyperlink" Target="https://vishnupriya-255.github.io/High-Concurrency--File-Distribution-Server/"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132093" y="3260726"/>
            <a:ext cx="12023813" cy="1882774"/>
          </a:xfrm>
          <a:prstGeom prst="rect">
            <a:avLst/>
          </a:prstGeom>
        </p:spPr>
        <p:txBody>
          <a:bodyPr lIns="0" tIns="0" rIns="0" bIns="0" rtlCol="0" anchor="t">
            <a:spAutoFit/>
          </a:bodyPr>
          <a:lstStyle/>
          <a:p>
            <a:pPr algn="ctr">
              <a:lnSpc>
                <a:spcPts val="7600"/>
              </a:lnSpc>
              <a:spcBef>
                <a:spcPct val="0"/>
              </a:spcBef>
            </a:pPr>
            <a:r>
              <a:rPr lang="en-US" sz="5400">
                <a:solidFill>
                  <a:srgbClr val="353534"/>
                </a:solidFill>
                <a:latin typeface="Abril Fatface"/>
                <a:ea typeface="Abril Fatface"/>
                <a:cs typeface="Abril Fatface"/>
                <a:sym typeface="Abril Fatface"/>
              </a:rPr>
              <a:t>HIGH-CONCURRENCY FILE DISTRIBUTION SERVER</a:t>
            </a:r>
          </a:p>
        </p:txBody>
      </p:sp>
      <p:sp>
        <p:nvSpPr>
          <p:cNvPr id="9" name="TextBox 9"/>
          <p:cNvSpPr txBox="1"/>
          <p:nvPr/>
        </p:nvSpPr>
        <p:spPr>
          <a:xfrm>
            <a:off x="3132093" y="5546106"/>
            <a:ext cx="12023813" cy="1433149"/>
          </a:xfrm>
          <a:prstGeom prst="rect">
            <a:avLst/>
          </a:prstGeom>
        </p:spPr>
        <p:txBody>
          <a:bodyPr lIns="0" tIns="0" rIns="0" bIns="0" rtlCol="0" anchor="t">
            <a:spAutoFit/>
          </a:bodyPr>
          <a:lstStyle/>
          <a:p>
            <a:pPr algn="ctr">
              <a:lnSpc>
                <a:spcPts val="3360"/>
              </a:lnSpc>
              <a:spcBef>
                <a:spcPct val="0"/>
              </a:spcBef>
              <a:spcAft>
                <a:spcPts val="600"/>
              </a:spcAft>
            </a:pPr>
            <a:r>
              <a:rPr lang="en-US" sz="2400" dirty="0">
                <a:solidFill>
                  <a:srgbClr val="353534"/>
                </a:solidFill>
                <a:latin typeface="Merriweather"/>
                <a:ea typeface="Merriweather"/>
                <a:cs typeface="Merriweather"/>
                <a:sym typeface="Merriweather"/>
              </a:rPr>
              <a:t>Operating Systems and Systems Programming (25CS2104E)</a:t>
            </a:r>
          </a:p>
          <a:p>
            <a:pPr algn="ctr">
              <a:lnSpc>
                <a:spcPts val="3360"/>
              </a:lnSpc>
              <a:spcBef>
                <a:spcPct val="0"/>
              </a:spcBef>
              <a:spcAft>
                <a:spcPts val="600"/>
              </a:spcAft>
            </a:pPr>
            <a:r>
              <a:rPr lang="en-US" sz="2400" dirty="0">
                <a:solidFill>
                  <a:srgbClr val="353534"/>
                </a:solidFill>
                <a:latin typeface="Merriweather"/>
                <a:ea typeface="Merriweather"/>
                <a:cs typeface="Merriweather"/>
                <a:sym typeface="Merriweather"/>
              </a:rPr>
              <a:t>Section 3  •  Team 8</a:t>
            </a:r>
          </a:p>
          <a:p>
            <a:pPr algn="ctr">
              <a:lnSpc>
                <a:spcPts val="3360"/>
              </a:lnSpc>
              <a:spcBef>
                <a:spcPct val="0"/>
              </a:spcBef>
            </a:pPr>
            <a:r>
              <a:rPr lang="en-US" sz="2400" dirty="0" err="1">
                <a:solidFill>
                  <a:srgbClr val="353534"/>
                </a:solidFill>
                <a:latin typeface="Merriweather"/>
                <a:ea typeface="Merriweather"/>
                <a:cs typeface="Merriweather"/>
                <a:sym typeface="Merriweather"/>
              </a:rPr>
              <a:t>Suggula</a:t>
            </a:r>
            <a:r>
              <a:rPr lang="en-US" sz="2400" dirty="0">
                <a:solidFill>
                  <a:srgbClr val="353534"/>
                </a:solidFill>
                <a:latin typeface="Merriweather"/>
                <a:ea typeface="Merriweather"/>
                <a:cs typeface="Merriweather"/>
                <a:sym typeface="Merriweather"/>
              </a:rPr>
              <a:t> Sri Vishnupriya  •  Moukthika Vungarala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grpSp>
        <p:nvGrpSpPr>
          <p:cNvPr id="2" name="Group 2"/>
          <p:cNvGrpSpPr/>
          <p:nvPr/>
        </p:nvGrpSpPr>
        <p:grpSpPr>
          <a:xfrm>
            <a:off x="16197774" y="8764908"/>
            <a:ext cx="1061526" cy="3044184"/>
            <a:chOff x="0" y="0"/>
            <a:chExt cx="279579" cy="801760"/>
          </a:xfrm>
        </p:grpSpPr>
        <p:sp>
          <p:nvSpPr>
            <p:cNvPr id="3" name="Freeform 3"/>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4" name="TextBox 4"/>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01</a:t>
            </a:r>
          </a:p>
        </p:txBody>
      </p:sp>
      <p:sp>
        <p:nvSpPr>
          <p:cNvPr id="7" name="Freeform 7"/>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Freeform 9"/>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3952197" y="1443725"/>
            <a:ext cx="10383605" cy="1368424"/>
          </a:xfrm>
          <a:prstGeom prst="rect">
            <a:avLst/>
          </a:prstGeom>
        </p:spPr>
        <p:txBody>
          <a:bodyPr lIns="0" tIns="0" rIns="0" bIns="0" rtlCol="0" anchor="t">
            <a:spAutoFit/>
          </a:bodyPr>
          <a:lstStyle/>
          <a:p>
            <a:pPr algn="ctr">
              <a:lnSpc>
                <a:spcPts val="9240"/>
              </a:lnSpc>
              <a:spcBef>
                <a:spcPct val="0"/>
              </a:spcBef>
            </a:pPr>
            <a:r>
              <a:rPr lang="en-US" sz="6600">
                <a:solidFill>
                  <a:srgbClr val="353534"/>
                </a:solidFill>
                <a:latin typeface="Abril Fatface"/>
                <a:ea typeface="Abril Fatface"/>
                <a:cs typeface="Abril Fatface"/>
                <a:sym typeface="Abril Fatface"/>
              </a:rPr>
              <a:t>PROBLEM STATEMENT</a:t>
            </a:r>
          </a:p>
        </p:txBody>
      </p:sp>
      <p:sp>
        <p:nvSpPr>
          <p:cNvPr id="11" name="TextBox 11"/>
          <p:cNvSpPr txBox="1"/>
          <p:nvPr/>
        </p:nvSpPr>
        <p:spPr>
          <a:xfrm>
            <a:off x="4084897" y="3983724"/>
            <a:ext cx="10118206" cy="4248150"/>
          </a:xfrm>
          <a:prstGeom prst="rect">
            <a:avLst/>
          </a:prstGeom>
        </p:spPr>
        <p:txBody>
          <a:bodyPr lIns="0" tIns="0" rIns="0" bIns="0" rtlCol="0" anchor="t">
            <a:spAutoFit/>
          </a:bodyPr>
          <a:lstStyle/>
          <a:p>
            <a:pPr algn="ctr">
              <a:lnSpc>
                <a:spcPts val="3920"/>
              </a:lnSpc>
            </a:pPr>
            <a:r>
              <a:rPr lang="en-US" sz="2800">
                <a:solidFill>
                  <a:srgbClr val="353534"/>
                </a:solidFill>
                <a:latin typeface="Merriweather"/>
                <a:ea typeface="Merriweather"/>
                <a:cs typeface="Merriweather"/>
                <a:sym typeface="Merriweather"/>
              </a:rPr>
              <a:t>Without a proper file server, managing and accessing files for multiple clients is difficult and time-consuming. Clients may have to wait for files to be accessed or updated, especially when many need files at the same time. A file server provides a central place to store files and lets multiple clients read or update them efficiently.</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11200"/>
              </a:lnSpc>
              <a:spcBef>
                <a:spcPct val="0"/>
              </a:spcBef>
            </a:pPr>
            <a:r>
              <a:rPr lang="en-US" sz="8000">
                <a:solidFill>
                  <a:srgbClr val="353534"/>
                </a:solidFill>
                <a:latin typeface="Abril Fatface"/>
                <a:ea typeface="Abril Fatface"/>
                <a:cs typeface="Abril Fatface"/>
                <a:sym typeface="Abril Fatface"/>
              </a:rPr>
              <a:t>OBJECTIVES</a:t>
            </a:r>
          </a:p>
        </p:txBody>
      </p:sp>
      <p:sp>
        <p:nvSpPr>
          <p:cNvPr id="7" name="TextBox 7"/>
          <p:cNvSpPr txBox="1"/>
          <p:nvPr/>
        </p:nvSpPr>
        <p:spPr>
          <a:xfrm>
            <a:off x="3000000" y="3500000"/>
            <a:ext cx="12288000" cy="5200000"/>
          </a:xfrm>
          <a:prstGeom prst="rect">
            <a:avLst/>
          </a:prstGeom>
        </p:spPr>
        <p:txBody>
          <a:bodyPr lIns="0" tIns="0" rIns="0" bIns="0" rtlCol="0" anchor="t">
            <a:spAutoFit/>
          </a:bodyPr>
          <a:lstStyle/>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Design and implement a Linux-based high-concurrency file server</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Handle multiple read and write requests using separate child processes</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Use fork() and anonymous pipes for process creation and inter-process communication</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Demonstrate file descriptors and file I/O using open(), read(), write() and close()</a:t>
            </a:r>
          </a:p>
          <a:p>
            <a:pPr marL="604521" lvl="1" indent="-302261" algn="l">
              <a:lnSpc>
                <a:spcPts val="3920"/>
              </a:lnSpc>
              <a:buFont typeface="Arial"/>
              <a:buChar char="•"/>
            </a:pPr>
            <a:r>
              <a:rPr lang="en-US" sz="2800">
                <a:solidFill>
                  <a:srgbClr val="353534"/>
                </a:solidFill>
                <a:latin typeface="Merriweather"/>
                <a:ea typeface="Merriweather"/>
                <a:cs typeface="Merriweather"/>
                <a:sym typeface="Merriweather"/>
              </a:rPr>
              <a:t>Manage child processes properly using waitpid() and wait()</a:t>
            </a:r>
          </a:p>
        </p:txBody>
      </p:sp>
      <p:grpSp>
        <p:nvGrpSpPr>
          <p:cNvPr id="9" name="Group 9"/>
          <p:cNvGrpSpPr/>
          <p:nvPr/>
        </p:nvGrpSpPr>
        <p:grpSpPr>
          <a:xfrm>
            <a:off x="16197774" y="8764908"/>
            <a:ext cx="1061526" cy="3044184"/>
            <a:chOff x="0" y="0"/>
            <a:chExt cx="279579" cy="801760"/>
          </a:xfrm>
        </p:grpSpPr>
        <p:sp>
          <p:nvSpPr>
            <p:cNvPr id="10" name="Freeform 10"/>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1" name="TextBox 11"/>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02</a:t>
            </a:r>
          </a:p>
        </p:txBody>
      </p:sp>
      <p:sp>
        <p:nvSpPr>
          <p:cNvPr id="13" name="Freeform 13"/>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9800"/>
              </a:lnSpc>
              <a:spcBef>
                <a:spcPct val="0"/>
              </a:spcBef>
            </a:pPr>
            <a:r>
              <a:rPr lang="en-US" sz="7000">
                <a:solidFill>
                  <a:srgbClr val="353534"/>
                </a:solidFill>
                <a:latin typeface="Abril Fatface"/>
                <a:ea typeface="Abril Fatface"/>
                <a:cs typeface="Abril Fatface"/>
                <a:sym typeface="Abril Fatface"/>
              </a:rPr>
              <a:t>HOW IT WORKS</a:t>
            </a:r>
          </a:p>
        </p:txBody>
      </p:sp>
      <p:sp>
        <p:nvSpPr>
          <p:cNvPr id="7" name="TextBox 7"/>
          <p:cNvSpPr txBox="1"/>
          <p:nvPr/>
        </p:nvSpPr>
        <p:spPr>
          <a:xfrm>
            <a:off x="1183464" y="5347055"/>
            <a:ext cx="4787530" cy="2267585"/>
          </a:xfrm>
          <a:prstGeom prst="rect">
            <a:avLst/>
          </a:prstGeom>
        </p:spPr>
        <p:txBody>
          <a:bodyPr lIns="0" tIns="0" rIns="0" bIns="0" rtlCol="0" anchor="t">
            <a:spAutoFit/>
          </a:bodyPr>
          <a:lstStyle/>
          <a:p>
            <a:pPr algn="ctr">
              <a:lnSpc>
                <a:spcPts val="3080"/>
              </a:lnSpc>
            </a:pPr>
            <a:r>
              <a:rPr lang="en-US" sz="2200">
                <a:solidFill>
                  <a:srgbClr val="353534"/>
                </a:solidFill>
                <a:latin typeface="Merriweather"/>
                <a:ea typeface="Merriweather"/>
                <a:cs typeface="Merriweather"/>
                <a:sym typeface="Merriweather"/>
              </a:rPr>
              <a:t>Shows the menu, takes a READ or WRITE request, creates a pipe, forks a child and sends the request. It is then free to accept the next request.</a:t>
            </a:r>
          </a:p>
        </p:txBody>
      </p:sp>
      <p:sp>
        <p:nvSpPr>
          <p:cNvPr id="8" name="TextBox 8"/>
          <p:cNvSpPr txBox="1"/>
          <p:nvPr/>
        </p:nvSpPr>
        <p:spPr>
          <a:xfrm>
            <a:off x="6750235" y="5347055"/>
            <a:ext cx="4787530" cy="2267585"/>
          </a:xfrm>
          <a:prstGeom prst="rect">
            <a:avLst/>
          </a:prstGeom>
        </p:spPr>
        <p:txBody>
          <a:bodyPr lIns="0" tIns="0" rIns="0" bIns="0" rtlCol="0" anchor="t">
            <a:spAutoFit/>
          </a:bodyPr>
          <a:lstStyle/>
          <a:p>
            <a:pPr algn="ctr">
              <a:lnSpc>
                <a:spcPts val="3080"/>
              </a:lnSpc>
            </a:pPr>
            <a:r>
              <a:rPr lang="en-US" sz="2200">
                <a:solidFill>
                  <a:srgbClr val="353534"/>
                </a:solidFill>
                <a:latin typeface="Merriweather"/>
                <a:ea typeface="Merriweather"/>
                <a:cs typeface="Merriweather"/>
                <a:sym typeface="Merriweather"/>
              </a:rPr>
              <a:t>An anonymous pipe carries only the request: the file name for READ, or the file name and data for WRITE. Each request gets its own pipe.</a:t>
            </a:r>
          </a:p>
        </p:txBody>
      </p:sp>
      <p:sp>
        <p:nvSpPr>
          <p:cNvPr id="9" name="TextBox 9"/>
          <p:cNvSpPr txBox="1"/>
          <p:nvPr/>
        </p:nvSpPr>
        <p:spPr>
          <a:xfrm>
            <a:off x="12318815" y="5347055"/>
            <a:ext cx="4787530" cy="2267585"/>
          </a:xfrm>
          <a:prstGeom prst="rect">
            <a:avLst/>
          </a:prstGeom>
        </p:spPr>
        <p:txBody>
          <a:bodyPr lIns="0" tIns="0" rIns="0" bIns="0" rtlCol="0" anchor="t">
            <a:spAutoFit/>
          </a:bodyPr>
          <a:lstStyle/>
          <a:p>
            <a:pPr algn="ctr">
              <a:lnSpc>
                <a:spcPts val="3080"/>
              </a:lnSpc>
            </a:pPr>
            <a:r>
              <a:rPr lang="en-US" sz="2200">
                <a:solidFill>
                  <a:srgbClr val="353534"/>
                </a:solidFill>
                <a:latin typeface="Merriweather"/>
                <a:ea typeface="Merriweather"/>
                <a:cs typeface="Merriweather"/>
                <a:sym typeface="Merriweather"/>
              </a:rPr>
              <a:t>Closes the unused pipe end, reads the request, performs open(), read() or write(), close() on a file in server_files/, then terminates.</a:t>
            </a:r>
          </a:p>
        </p:txBody>
      </p:sp>
      <p:sp>
        <p:nvSpPr>
          <p:cNvPr id="10" name="TextBox 10"/>
          <p:cNvSpPr txBox="1"/>
          <p:nvPr/>
        </p:nvSpPr>
        <p:spPr>
          <a:xfrm>
            <a:off x="1132775" y="3757102"/>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PARENT</a:t>
            </a:r>
          </a:p>
        </p:txBody>
      </p:sp>
      <p:sp>
        <p:nvSpPr>
          <p:cNvPr id="11" name="TextBox 11"/>
          <p:cNvSpPr txBox="1"/>
          <p:nvPr/>
        </p:nvSpPr>
        <p:spPr>
          <a:xfrm>
            <a:off x="6699546" y="3757102"/>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PIPE</a:t>
            </a:r>
          </a:p>
        </p:txBody>
      </p:sp>
      <p:sp>
        <p:nvSpPr>
          <p:cNvPr id="12" name="TextBox 12"/>
          <p:cNvSpPr txBox="1"/>
          <p:nvPr/>
        </p:nvSpPr>
        <p:spPr>
          <a:xfrm>
            <a:off x="12268126" y="3757102"/>
            <a:ext cx="4888908" cy="1028700"/>
          </a:xfrm>
          <a:prstGeom prst="rect">
            <a:avLst/>
          </a:prstGeom>
        </p:spPr>
        <p:txBody>
          <a:bodyPr lIns="0" tIns="0" rIns="0" bIns="0" rtlCol="0" anchor="t">
            <a:spAutoFit/>
          </a:bodyPr>
          <a:lstStyle/>
          <a:p>
            <a:pPr algn="ctr">
              <a:lnSpc>
                <a:spcPts val="8400"/>
              </a:lnSpc>
              <a:spcBef>
                <a:spcPct val="0"/>
              </a:spcBef>
            </a:pPr>
            <a:r>
              <a:rPr lang="en-US" sz="6000">
                <a:solidFill>
                  <a:srgbClr val="353534"/>
                </a:solidFill>
                <a:latin typeface="Abril Fatface"/>
                <a:ea typeface="Abril Fatface"/>
                <a:cs typeface="Abril Fatface"/>
                <a:sym typeface="Abril Fatface"/>
              </a:rPr>
              <a:t>CHILD</a:t>
            </a:r>
          </a:p>
        </p:txBody>
      </p:sp>
      <p:grpSp>
        <p:nvGrpSpPr>
          <p:cNvPr id="13" name="Group 13"/>
          <p:cNvGrpSpPr/>
          <p:nvPr/>
        </p:nvGrpSpPr>
        <p:grpSpPr>
          <a:xfrm>
            <a:off x="16226349" y="8764908"/>
            <a:ext cx="1061526" cy="3044184"/>
            <a:chOff x="0" y="0"/>
            <a:chExt cx="279579" cy="801760"/>
          </a:xfrm>
        </p:grpSpPr>
        <p:sp>
          <p:nvSpPr>
            <p:cNvPr id="14" name="Freeform 14"/>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5" name="TextBox 15"/>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611346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03</a:t>
            </a:r>
          </a:p>
        </p:txBody>
      </p:sp>
      <p:sp>
        <p:nvSpPr>
          <p:cNvPr id="17" name="Freeform 17"/>
          <p:cNvSpPr/>
          <p:nvPr/>
        </p:nvSpPr>
        <p:spPr>
          <a:xfrm rot="-10800000">
            <a:off x="1265489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9240"/>
              </a:lnSpc>
              <a:spcBef>
                <a:spcPct val="0"/>
              </a:spcBef>
            </a:pPr>
            <a:r>
              <a:rPr lang="en-US" sz="6600">
                <a:solidFill>
                  <a:srgbClr val="353534"/>
                </a:solidFill>
                <a:latin typeface="Abril Fatface"/>
                <a:ea typeface="Abril Fatface"/>
                <a:cs typeface="Abril Fatface"/>
                <a:sym typeface="Abril Fatface"/>
              </a:rPr>
              <a:t>CONCEPTS USED</a:t>
            </a:r>
          </a:p>
        </p:txBody>
      </p:sp>
      <p:sp>
        <p:nvSpPr>
          <p:cNvPr id="7" name="TextBox 7"/>
          <p:cNvSpPr txBox="1"/>
          <p:nvPr/>
        </p:nvSpPr>
        <p:spPr>
          <a:xfrm>
            <a:off x="3000000" y="3500000"/>
            <a:ext cx="12288000" cy="5200000"/>
          </a:xfrm>
          <a:prstGeom prst="rect">
            <a:avLst/>
          </a:prstGeom>
        </p:spPr>
        <p:txBody>
          <a:bodyPr lIns="0" tIns="0" rIns="0" bIns="0" rtlCol="0" anchor="t">
            <a:spAutoFit/>
          </a:bodyPr>
          <a:lstStyle/>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Processes and fork(): one child process is created for every request</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pipe(): an anonymous pipe carries each request from parent to child</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open(), read(), write(), close(): file I/O on files in server_files/</a:t>
            </a:r>
          </a:p>
          <a:p>
            <a:pPr marL="604521" lvl="1" indent="-302261" algn="l">
              <a:lnSpc>
                <a:spcPts val="3920"/>
              </a:lnSpc>
              <a:spcAft>
                <a:spcPts val="1700"/>
              </a:spcAft>
              <a:buFont typeface="Arial"/>
              <a:buChar char="•"/>
            </a:pPr>
            <a:r>
              <a:rPr lang="en-US" sz="2800">
                <a:solidFill>
                  <a:srgbClr val="353534"/>
                </a:solidFill>
                <a:latin typeface="Merriweather"/>
                <a:ea typeface="Merriweather"/>
                <a:cs typeface="Merriweather"/>
                <a:sym typeface="Merriweather"/>
              </a:rPr>
              <a:t>File descriptors: pipefd[] and file manage the pipe and file resources</a:t>
            </a:r>
          </a:p>
          <a:p>
            <a:pPr marL="604521" lvl="1" indent="-302261" algn="l">
              <a:lnSpc>
                <a:spcPts val="3920"/>
              </a:lnSpc>
              <a:buFont typeface="Arial"/>
              <a:buChar char="•"/>
            </a:pPr>
            <a:r>
              <a:rPr lang="en-US" sz="2800">
                <a:solidFill>
                  <a:srgbClr val="353534"/>
                </a:solidFill>
                <a:latin typeface="Merriweather"/>
                <a:ea typeface="Merriweather"/>
                <a:cs typeface="Merriweather"/>
                <a:sym typeface="Merriweather"/>
              </a:rPr>
              <a:t>waitpid() and wait(): finished children are cleaned up, leaving no zombies</a:t>
            </a:r>
          </a:p>
        </p:txBody>
      </p:sp>
      <p:grpSp>
        <p:nvGrpSpPr>
          <p:cNvPr id="9" name="Group 9"/>
          <p:cNvGrpSpPr/>
          <p:nvPr/>
        </p:nvGrpSpPr>
        <p:grpSpPr>
          <a:xfrm>
            <a:off x="16197774" y="8764908"/>
            <a:ext cx="1061526" cy="3044184"/>
            <a:chOff x="0" y="0"/>
            <a:chExt cx="279579" cy="801760"/>
          </a:xfrm>
        </p:grpSpPr>
        <p:sp>
          <p:nvSpPr>
            <p:cNvPr id="10" name="Freeform 10"/>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1" name="TextBox 11"/>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04</a:t>
            </a:r>
          </a:p>
        </p:txBody>
      </p:sp>
      <p:sp>
        <p:nvSpPr>
          <p:cNvPr id="13" name="Freeform 13"/>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9800"/>
              </a:lnSpc>
              <a:spcBef>
                <a:spcPct val="0"/>
              </a:spcBef>
            </a:pPr>
            <a:r>
              <a:rPr lang="en-US" sz="7000">
                <a:solidFill>
                  <a:srgbClr val="353534"/>
                </a:solidFill>
                <a:latin typeface="Abril Fatface"/>
                <a:ea typeface="Abril Fatface"/>
                <a:cs typeface="Abril Fatface"/>
                <a:sym typeface="Abril Fatface"/>
              </a:rPr>
              <a:t>IMPLEMENTATION</a:t>
            </a:r>
          </a:p>
        </p:txBody>
      </p:sp>
      <p:sp>
        <p:nvSpPr>
          <p:cNvPr id="7" name="TextBox 7"/>
          <p:cNvSpPr txBox="1"/>
          <p:nvPr/>
        </p:nvSpPr>
        <p:spPr>
          <a:xfrm>
            <a:off x="4084897" y="3700000"/>
            <a:ext cx="10118206" cy="4800000"/>
          </a:xfrm>
          <a:prstGeom prst="rect">
            <a:avLst/>
          </a:prstGeom>
        </p:spPr>
        <p:txBody>
          <a:bodyPr lIns="0" tIns="0" rIns="0" bIns="0" rtlCol="0" anchor="t">
            <a:spAutoFit/>
          </a:bodyPr>
          <a:lstStyle/>
          <a:p>
            <a:pPr algn="ctr">
              <a:lnSpc>
                <a:spcPts val="3360"/>
              </a:lnSpc>
              <a:spcAft>
                <a:spcPts val="2000"/>
              </a:spcAft>
            </a:pPr>
            <a:r>
              <a:rPr lang="en-US" sz="2400">
                <a:solidFill>
                  <a:srgbClr val="353534"/>
                </a:solidFill>
                <a:latin typeface="Merriweather"/>
                <a:ea typeface="Merriweather"/>
                <a:cs typeface="Merriweather"/>
                <a:sym typeface="Merriweather"/>
              </a:rPr>
              <a:t>Request received → pipe created → child created with fork() → parent sends the request through the pipe → child reads it → file opened → read or write performed → descriptors closed → child terminates → next request handled.</a:t>
            </a:r>
          </a:p>
          <a:p>
            <a:pPr algn="ctr">
              <a:lnSpc>
                <a:spcPts val="3360"/>
              </a:lnSpc>
            </a:pPr>
            <a:r>
              <a:rPr lang="en-US" sz="2400">
                <a:solidFill>
                  <a:srgbClr val="353534"/>
                </a:solidFill>
                <a:latin typeface="Merriweather"/>
                <a:ea typeface="Merriweather"/>
                <a:cs typeface="Merriweather"/>
                <a:sym typeface="Merriweather"/>
              </a:rPr>
              <a:t>READ opens the file with O_RDONLY. WRITE opens it with O_WRONLY | O_CREAT | O_APPEND. The parent reaps finished children with waitpid(-1, NULL, WNOHANG) and waits for the rest on exit.</a:t>
            </a:r>
          </a:p>
        </p:txBody>
      </p:sp>
      <p:grpSp>
        <p:nvGrpSpPr>
          <p:cNvPr id="8" name="Group 8"/>
          <p:cNvGrpSpPr/>
          <p:nvPr/>
        </p:nvGrpSpPr>
        <p:grpSpPr>
          <a:xfrm>
            <a:off x="16197774"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05</a:t>
            </a:r>
          </a:p>
        </p:txBody>
      </p:sp>
      <p:sp>
        <p:nvSpPr>
          <p:cNvPr id="12" name="Freeform 12"/>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9800"/>
              </a:lnSpc>
              <a:spcBef>
                <a:spcPct val="0"/>
              </a:spcBef>
            </a:pPr>
            <a:r>
              <a:rPr lang="en-US" sz="7000">
                <a:solidFill>
                  <a:srgbClr val="353534"/>
                </a:solidFill>
                <a:latin typeface="Abril Fatface"/>
                <a:ea typeface="Abril Fatface"/>
                <a:cs typeface="Abril Fatface"/>
                <a:sym typeface="Abril Fatface"/>
              </a:rPr>
              <a:t>OUTPUT: WRITE</a:t>
            </a:r>
          </a:p>
        </p:txBody>
      </p:sp>
      <p:sp>
        <p:nvSpPr>
          <p:cNvPr id="7" name="TextBox 7"/>
          <p:cNvSpPr txBox="1"/>
          <p:nvPr/>
        </p:nvSpPr>
        <p:spPr>
          <a:xfrm>
            <a:off x="9341515" y="3799201"/>
            <a:ext cx="6776725" cy="4200000"/>
          </a:xfrm>
          <a:prstGeom prst="rect">
            <a:avLst/>
          </a:prstGeom>
        </p:spPr>
        <p:txBody>
          <a:bodyPr lIns="0" tIns="0" rIns="0" bIns="0" rtlCol="0" anchor="t">
            <a:spAutoFit/>
          </a:bodyPr>
          <a:lstStyle/>
          <a:p>
            <a:pPr algn="l">
              <a:lnSpc>
                <a:spcPts val="3360"/>
              </a:lnSpc>
              <a:spcBef>
                <a:spcPct val="0"/>
              </a:spcBef>
            </a:pPr>
            <a:r>
              <a:rPr lang="en-US" sz="2400">
                <a:solidFill>
                  <a:srgbClr val="353534"/>
                </a:solidFill>
                <a:latin typeface="Merriweather"/>
                <a:ea typeface="Merriweather"/>
                <a:cs typeface="Merriweather"/>
                <a:sym typeface="Merriweather"/>
              </a:rPr>
              <a:t>WRITE request for test.txt: the file name and data travel through the pipe to child process 676. The parent prints "Server is ready for another request" at once, while the child appends the data and reports WRITE completed.</a:t>
            </a:r>
          </a:p>
        </p:txBody>
      </p:sp>
      <p:pic>
        <p:nvPicPr>
          <p:cNvPr id="8" name="Picture 8"/>
          <p:cNvPicPr>
            <a:picLocks noChangeAspect="1"/>
          </p:cNvPicPr>
          <p:nvPr/>
        </p:nvPicPr>
        <p:blipFill>
          <a:blip r:embed="rId4"/>
          <a:stretch>
            <a:fillRect/>
          </a:stretch>
        </p:blipFill>
        <p:spPr>
          <a:xfrm>
            <a:off x="2232794" y="3350000"/>
            <a:ext cx="5524456" cy="5700000"/>
          </a:xfrm>
          <a:prstGeom prst="rect">
            <a:avLst/>
          </a:prstGeom>
        </p:spPr>
      </p:pic>
      <p:grpSp>
        <p:nvGrpSpPr>
          <p:cNvPr id="9" name="Group 9"/>
          <p:cNvGrpSpPr/>
          <p:nvPr/>
        </p:nvGrpSpPr>
        <p:grpSpPr>
          <a:xfrm>
            <a:off x="16197774" y="8764908"/>
            <a:ext cx="1061526" cy="3044184"/>
            <a:chOff x="0" y="0"/>
            <a:chExt cx="279579" cy="801760"/>
          </a:xfrm>
        </p:grpSpPr>
        <p:sp>
          <p:nvSpPr>
            <p:cNvPr id="10" name="Freeform 10"/>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1" name="TextBox 11"/>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06</a:t>
            </a:r>
          </a:p>
        </p:txBody>
      </p:sp>
      <p:sp>
        <p:nvSpPr>
          <p:cNvPr id="13" name="Freeform 13"/>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368424"/>
          </a:xfrm>
          <a:prstGeom prst="rect">
            <a:avLst/>
          </a:prstGeom>
        </p:spPr>
        <p:txBody>
          <a:bodyPr lIns="0" tIns="0" rIns="0" bIns="0" rtlCol="0" anchor="t">
            <a:spAutoFit/>
          </a:bodyPr>
          <a:lstStyle/>
          <a:p>
            <a:pPr algn="ctr">
              <a:lnSpc>
                <a:spcPts val="9800"/>
              </a:lnSpc>
              <a:spcBef>
                <a:spcPct val="0"/>
              </a:spcBef>
            </a:pPr>
            <a:r>
              <a:rPr lang="en-US" sz="7000">
                <a:solidFill>
                  <a:srgbClr val="353534"/>
                </a:solidFill>
                <a:latin typeface="Abril Fatface"/>
                <a:ea typeface="Abril Fatface"/>
                <a:cs typeface="Abril Fatface"/>
                <a:sym typeface="Abril Fatface"/>
              </a:rPr>
              <a:t>OUTPUT: READ</a:t>
            </a:r>
          </a:p>
        </p:txBody>
      </p:sp>
      <p:sp>
        <p:nvSpPr>
          <p:cNvPr id="7" name="TextBox 7"/>
          <p:cNvSpPr txBox="1"/>
          <p:nvPr/>
        </p:nvSpPr>
        <p:spPr>
          <a:xfrm>
            <a:off x="9581910" y="3799201"/>
            <a:ext cx="6776725" cy="4200000"/>
          </a:xfrm>
          <a:prstGeom prst="rect">
            <a:avLst/>
          </a:prstGeom>
        </p:spPr>
        <p:txBody>
          <a:bodyPr lIns="0" tIns="0" rIns="0" bIns="0" rtlCol="0" anchor="t">
            <a:spAutoFit/>
          </a:bodyPr>
          <a:lstStyle/>
          <a:p>
            <a:pPr algn="l">
              <a:lnSpc>
                <a:spcPts val="3360"/>
              </a:lnSpc>
              <a:spcBef>
                <a:spcPct val="0"/>
              </a:spcBef>
            </a:pPr>
            <a:r>
              <a:rPr lang="en-US" sz="2400">
                <a:solidFill>
                  <a:srgbClr val="353534"/>
                </a:solidFill>
                <a:latin typeface="Merriweather"/>
                <a:ea typeface="Merriweather"/>
                <a:cs typeface="Merriweather"/>
                <a:sym typeface="Merriweather"/>
              </a:rPr>
              <a:t>READ request for test.txt: child process 677 opens the file, reads it and prints its contents. Choosing EXIT waits for any remaining children and then stops the server.</a:t>
            </a:r>
          </a:p>
        </p:txBody>
      </p:sp>
      <p:pic>
        <p:nvPicPr>
          <p:cNvPr id="8" name="Picture 8"/>
          <p:cNvPicPr>
            <a:picLocks noChangeAspect="1"/>
          </p:cNvPicPr>
          <p:nvPr/>
        </p:nvPicPr>
        <p:blipFill>
          <a:blip r:embed="rId4"/>
          <a:stretch>
            <a:fillRect/>
          </a:stretch>
        </p:blipFill>
        <p:spPr>
          <a:xfrm>
            <a:off x="3171612" y="3350000"/>
            <a:ext cx="4939323" cy="5700000"/>
          </a:xfrm>
          <a:prstGeom prst="rect">
            <a:avLst/>
          </a:prstGeom>
        </p:spPr>
      </p:pic>
      <p:grpSp>
        <p:nvGrpSpPr>
          <p:cNvPr id="9" name="Group 9"/>
          <p:cNvGrpSpPr/>
          <p:nvPr/>
        </p:nvGrpSpPr>
        <p:grpSpPr>
          <a:xfrm>
            <a:off x="16197774" y="8764908"/>
            <a:ext cx="1061526" cy="3044184"/>
            <a:chOff x="0" y="0"/>
            <a:chExt cx="279579" cy="801760"/>
          </a:xfrm>
        </p:grpSpPr>
        <p:sp>
          <p:nvSpPr>
            <p:cNvPr id="10" name="Freeform 10"/>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1" name="TextBox 11"/>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6084888"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07</a:t>
            </a:r>
          </a:p>
        </p:txBody>
      </p:sp>
      <p:sp>
        <p:nvSpPr>
          <p:cNvPr id="13" name="Freeform 13"/>
          <p:cNvSpPr/>
          <p:nvPr/>
        </p:nvSpPr>
        <p:spPr>
          <a:xfrm rot="-10800000">
            <a:off x="12626322"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476287" y="550875"/>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495705" y="9364617"/>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1294784" y="7594275"/>
            <a:ext cx="3580978" cy="296130"/>
          </a:xfrm>
          <a:custGeom>
            <a:avLst/>
            <a:gdLst/>
            <a:ahLst/>
            <a:cxnLst/>
            <a:rect l="l" t="t" r="r" b="b"/>
            <a:pathLst>
              <a:path w="3580978" h="296130">
                <a:moveTo>
                  <a:pt x="0" y="0"/>
                </a:moveTo>
                <a:lnTo>
                  <a:pt x="3580978" y="0"/>
                </a:lnTo>
                <a:lnTo>
                  <a:pt x="3580978"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754979" y="536003"/>
            <a:ext cx="2726522" cy="2696778"/>
          </a:xfrm>
          <a:custGeom>
            <a:avLst/>
            <a:gdLst/>
            <a:ahLst/>
            <a:cxnLst/>
            <a:rect l="l" t="t" r="r" b="b"/>
            <a:pathLst>
              <a:path w="2726522" h="2696778">
                <a:moveTo>
                  <a:pt x="0" y="0"/>
                </a:moveTo>
                <a:lnTo>
                  <a:pt x="2726522" y="0"/>
                </a:lnTo>
                <a:lnTo>
                  <a:pt x="2726522" y="2696778"/>
                </a:lnTo>
                <a:lnTo>
                  <a:pt x="0" y="2696778"/>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3952197" y="1443725"/>
            <a:ext cx="10383605" cy="1174937"/>
          </a:xfrm>
          <a:prstGeom prst="rect">
            <a:avLst/>
          </a:prstGeom>
        </p:spPr>
        <p:txBody>
          <a:bodyPr lIns="0" tIns="0" rIns="0" bIns="0" rtlCol="0" anchor="t">
            <a:spAutoFit/>
          </a:bodyPr>
          <a:lstStyle/>
          <a:p>
            <a:pPr algn="ctr">
              <a:lnSpc>
                <a:spcPts val="9800"/>
              </a:lnSpc>
              <a:spcBef>
                <a:spcPct val="0"/>
              </a:spcBef>
            </a:pPr>
            <a:r>
              <a:rPr lang="en-US" sz="7000" dirty="0">
                <a:solidFill>
                  <a:srgbClr val="353534"/>
                </a:solidFill>
                <a:latin typeface="Abril Fatface"/>
                <a:ea typeface="Abril Fatface"/>
                <a:cs typeface="Abril Fatface"/>
                <a:sym typeface="Abril Fatface"/>
              </a:rPr>
              <a:t>WEBSITE LINK</a:t>
            </a:r>
          </a:p>
        </p:txBody>
      </p:sp>
      <p:sp>
        <p:nvSpPr>
          <p:cNvPr id="7" name="TextBox 7"/>
          <p:cNvSpPr txBox="1"/>
          <p:nvPr/>
        </p:nvSpPr>
        <p:spPr>
          <a:xfrm>
            <a:off x="2971800" y="4152900"/>
            <a:ext cx="11963400" cy="3046988"/>
          </a:xfrm>
          <a:prstGeom prst="rect">
            <a:avLst/>
          </a:prstGeom>
        </p:spPr>
        <p:txBody>
          <a:bodyPr wrap="square" lIns="0" tIns="0" rIns="0" bIns="0" rtlCol="0" anchor="t">
            <a:spAutoFit/>
          </a:bodyPr>
          <a:lstStyle/>
          <a:p>
            <a:pPr algn="ctr">
              <a:lnSpc>
                <a:spcPct val="100000"/>
              </a:lnSpc>
            </a:pPr>
            <a:r>
              <a:rPr lang="en-IN" sz="6600" dirty="0"/>
              <a:t> </a:t>
            </a:r>
            <a:r>
              <a:rPr lang="en-IN" sz="6600" u="sng" dirty="0">
                <a:hlinkClick r:id="rId4"/>
              </a:rPr>
              <a:t>https://vishnupriya-255.github.io/High-Concurrency--File-Distribution-Server</a:t>
            </a:r>
            <a:r>
              <a:rPr lang="en-IN" u="sng" dirty="0">
                <a:hlinkClick r:id="rId4"/>
              </a:rPr>
              <a:t>/</a:t>
            </a:r>
            <a:endParaRPr lang="en-US" sz="2000" dirty="0">
              <a:solidFill>
                <a:srgbClr val="353534"/>
              </a:solidFill>
              <a:latin typeface="Merriweather"/>
              <a:ea typeface="Merriweather"/>
              <a:cs typeface="Merriweather"/>
              <a:sym typeface="Merriweather"/>
            </a:endParaRPr>
          </a:p>
        </p:txBody>
      </p:sp>
      <p:grpSp>
        <p:nvGrpSpPr>
          <p:cNvPr id="8" name="Group 8"/>
          <p:cNvGrpSpPr/>
          <p:nvPr/>
        </p:nvGrpSpPr>
        <p:grpSpPr>
          <a:xfrm>
            <a:off x="16207299" y="8764908"/>
            <a:ext cx="1061526" cy="3044184"/>
            <a:chOff x="0" y="0"/>
            <a:chExt cx="279579" cy="801760"/>
          </a:xfrm>
        </p:grpSpPr>
        <p:sp>
          <p:nvSpPr>
            <p:cNvPr id="9" name="Freeform 9"/>
            <p:cNvSpPr/>
            <p:nvPr/>
          </p:nvSpPr>
          <p:spPr>
            <a:xfrm>
              <a:off x="0" y="0"/>
              <a:ext cx="279579" cy="801760"/>
            </a:xfrm>
            <a:custGeom>
              <a:avLst/>
              <a:gdLst/>
              <a:ahLst/>
              <a:cxnLst/>
              <a:rect l="l" t="t" r="r" b="b"/>
              <a:pathLst>
                <a:path w="279579" h="801760">
                  <a:moveTo>
                    <a:pt x="139789" y="0"/>
                  </a:moveTo>
                  <a:lnTo>
                    <a:pt x="139789" y="0"/>
                  </a:lnTo>
                  <a:cubicBezTo>
                    <a:pt x="216993" y="0"/>
                    <a:pt x="279579" y="62586"/>
                    <a:pt x="279579" y="139789"/>
                  </a:cubicBezTo>
                  <a:lnTo>
                    <a:pt x="279579" y="661971"/>
                  </a:lnTo>
                  <a:cubicBezTo>
                    <a:pt x="279579" y="739175"/>
                    <a:pt x="216993" y="801760"/>
                    <a:pt x="139789" y="801760"/>
                  </a:cubicBezTo>
                  <a:lnTo>
                    <a:pt x="139789" y="801760"/>
                  </a:lnTo>
                  <a:cubicBezTo>
                    <a:pt x="62586" y="801760"/>
                    <a:pt x="0" y="739175"/>
                    <a:pt x="0" y="661971"/>
                  </a:cubicBezTo>
                  <a:lnTo>
                    <a:pt x="0" y="139789"/>
                  </a:lnTo>
                  <a:cubicBezTo>
                    <a:pt x="0" y="62586"/>
                    <a:pt x="62586" y="0"/>
                    <a:pt x="139789" y="0"/>
                  </a:cubicBezTo>
                  <a:close/>
                </a:path>
              </a:pathLst>
            </a:custGeom>
            <a:ln w="28575" cap="rnd">
              <a:solidFill>
                <a:srgbClr val="000000"/>
              </a:solidFill>
              <a:prstDash val="solid"/>
              <a:round/>
            </a:ln>
          </p:spPr>
        </p:sp>
        <p:sp>
          <p:nvSpPr>
            <p:cNvPr id="10" name="TextBox 10"/>
            <p:cNvSpPr txBox="1"/>
            <p:nvPr/>
          </p:nvSpPr>
          <p:spPr>
            <a:xfrm>
              <a:off x="0" y="-38100"/>
              <a:ext cx="279579" cy="83986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6094413" y="9153907"/>
            <a:ext cx="1174412" cy="514350"/>
          </a:xfrm>
          <a:prstGeom prst="rect">
            <a:avLst/>
          </a:prstGeom>
        </p:spPr>
        <p:txBody>
          <a:bodyPr lIns="0" tIns="0" rIns="0" bIns="0" rtlCol="0" anchor="t">
            <a:spAutoFit/>
          </a:bodyPr>
          <a:lstStyle/>
          <a:p>
            <a:pPr algn="ctr">
              <a:lnSpc>
                <a:spcPts val="4200"/>
              </a:lnSpc>
              <a:spcBef>
                <a:spcPct val="0"/>
              </a:spcBef>
            </a:pPr>
            <a:r>
              <a:rPr lang="en-US" sz="3000">
                <a:solidFill>
                  <a:srgbClr val="353534"/>
                </a:solidFill>
                <a:latin typeface="Merriweather"/>
                <a:ea typeface="Merriweather"/>
                <a:cs typeface="Merriweather"/>
                <a:sym typeface="Merriweather"/>
              </a:rPr>
              <a:t>08</a:t>
            </a:r>
          </a:p>
        </p:txBody>
      </p:sp>
      <p:sp>
        <p:nvSpPr>
          <p:cNvPr id="12" name="Freeform 12"/>
          <p:cNvSpPr/>
          <p:nvPr/>
        </p:nvSpPr>
        <p:spPr>
          <a:xfrm rot="-10800000">
            <a:off x="12635847" y="9364617"/>
            <a:ext cx="3580978" cy="296130"/>
          </a:xfrm>
          <a:custGeom>
            <a:avLst/>
            <a:gdLst/>
            <a:ahLst/>
            <a:cxnLst/>
            <a:rect l="l" t="t" r="r" b="b"/>
            <a:pathLst>
              <a:path w="3580978" h="296130">
                <a:moveTo>
                  <a:pt x="0" y="0"/>
                </a:moveTo>
                <a:lnTo>
                  <a:pt x="3580977" y="0"/>
                </a:lnTo>
                <a:lnTo>
                  <a:pt x="3580977" y="296130"/>
                </a:lnTo>
                <a:lnTo>
                  <a:pt x="0" y="296130"/>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EFE5"/>
        </a:solidFill>
        <a:effectLst/>
      </p:bgPr>
    </p:bg>
    <p:spTree>
      <p:nvGrpSpPr>
        <p:cNvPr id="1" name=""/>
        <p:cNvGrpSpPr/>
        <p:nvPr/>
      </p:nvGrpSpPr>
      <p:grpSpPr>
        <a:xfrm>
          <a:off x="0" y="0"/>
          <a:ext cx="0" cy="0"/>
          <a:chOff x="0" y="0"/>
          <a:chExt cx="0" cy="0"/>
        </a:xfrm>
      </p:grpSpPr>
      <p:sp>
        <p:nvSpPr>
          <p:cNvPr id="2" name="Freeform 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rot="-5400000">
            <a:off x="15269321" y="7123585"/>
            <a:ext cx="4740498" cy="392017"/>
          </a:xfrm>
          <a:custGeom>
            <a:avLst/>
            <a:gdLst/>
            <a:ahLst/>
            <a:cxnLst/>
            <a:rect l="l" t="t" r="r" b="b"/>
            <a:pathLst>
              <a:path w="4740498" h="392017">
                <a:moveTo>
                  <a:pt x="0" y="0"/>
                </a:moveTo>
                <a:lnTo>
                  <a:pt x="4740498" y="0"/>
                </a:lnTo>
                <a:lnTo>
                  <a:pt x="4740498" y="392017"/>
                </a:lnTo>
                <a:lnTo>
                  <a:pt x="0" y="3920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10800000">
            <a:off x="12925742" y="9493834"/>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4844934" y="732646"/>
            <a:ext cx="2767824" cy="2737630"/>
          </a:xfrm>
          <a:custGeom>
            <a:avLst/>
            <a:gdLst/>
            <a:ahLst/>
            <a:cxnLst/>
            <a:rect l="l" t="t" r="r" b="b"/>
            <a:pathLst>
              <a:path w="2767824" h="2737630">
                <a:moveTo>
                  <a:pt x="0" y="0"/>
                </a:moveTo>
                <a:lnTo>
                  <a:pt x="2767824" y="0"/>
                </a:lnTo>
                <a:lnTo>
                  <a:pt x="2767824" y="2737630"/>
                </a:lnTo>
                <a:lnTo>
                  <a:pt x="0" y="273763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160838" y="3814128"/>
            <a:ext cx="12023813" cy="1882774"/>
          </a:xfrm>
          <a:prstGeom prst="rect">
            <a:avLst/>
          </a:prstGeom>
        </p:spPr>
        <p:txBody>
          <a:bodyPr lIns="0" tIns="0" rIns="0" bIns="0" rtlCol="0" anchor="t">
            <a:spAutoFit/>
          </a:bodyPr>
          <a:lstStyle/>
          <a:p>
            <a:pPr algn="ctr">
              <a:lnSpc>
                <a:spcPts val="15400"/>
              </a:lnSpc>
              <a:spcBef>
                <a:spcPct val="0"/>
              </a:spcBef>
            </a:pPr>
            <a:r>
              <a:rPr lang="en-US" sz="11000" dirty="0">
                <a:solidFill>
                  <a:srgbClr val="353534"/>
                </a:solidFill>
                <a:latin typeface="Abril Fatface"/>
                <a:ea typeface="Abril Fatface"/>
                <a:cs typeface="Abril Fatface"/>
                <a:sym typeface="Abril Fatfac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TotalTime>
  <Words>518</Words>
  <Application>Microsoft Office PowerPoint</Application>
  <PresentationFormat>Custom</PresentationFormat>
  <Paragraphs>43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Merriweather</vt:lpstr>
      <vt:lpstr>Calibri</vt:lpstr>
      <vt:lpstr>Abril Fatface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and Beige Minimalist Professional Presentation</dc:title>
  <dc:creator>moukthika vungarala</dc:creator>
  <cp:lastModifiedBy>moukthika vungarala</cp:lastModifiedBy>
  <cp:revision>2</cp:revision>
  <dcterms:created xsi:type="dcterms:W3CDTF">2006-08-16T00:00:00Z</dcterms:created>
  <dcterms:modified xsi:type="dcterms:W3CDTF">2026-10-01T05:36:45Z</dcterms:modified>
  <dc:identifier>DAHWvDZnTv0</dc:identifier>
</cp:coreProperties>
</file>